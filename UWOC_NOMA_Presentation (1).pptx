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37744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HAMIRPUR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Electronics &amp; Communication Engineering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520440" y="384048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Detection for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Optical NOMA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520440" y="27889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1D-CNN Architecture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20440" y="3291840"/>
            <a:ext cx="5303520" cy="0"/>
          </a:xfrm>
          <a:prstGeom prst="line">
            <a:avLst/>
          </a:prstGeom>
          <a:noFill/>
          <a:ln w="9525">
            <a:solidFill>
              <a:srgbClr val="8898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04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20440" y="3730752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Akashdeep Saini (23BEC005)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Anshul Sharma (23BEC015)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Rajpal (23BEC024)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Singh (23BEC025)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Avinash (23BEC026)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Avirat Mahajan (23BEC027)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Ghosh (23BEC028)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9235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527048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270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1581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185416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2402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4378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28986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 &amp; Methodology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0215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5570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868680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8686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13248" y="9235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27048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5270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1581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185416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22402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843784"/>
            <a:ext cx="47548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4378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13248" y="28986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22960"/>
            <a:ext cx="26974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60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993392"/>
            <a:ext cx="1965960" cy="0"/>
          </a:xfrm>
          <a:prstGeom prst="line">
            <a:avLst/>
          </a:prstGeom>
          <a:noFill/>
          <a:ln w="9525">
            <a:solidFill>
              <a:srgbClr val="D0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receiver fails in turbulent underwater optical channels due to error propagation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822960"/>
            <a:ext cx="26974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960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1993392"/>
            <a:ext cx="1965960" cy="0"/>
          </a:xfrm>
          <a:prstGeom prst="line">
            <a:avLst/>
          </a:prstGeom>
          <a:noFill/>
          <a:ln w="9525">
            <a:solidFill>
              <a:srgbClr val="D0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joint decoder trained on 150,000-sample MATLAB synthetic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22960"/>
            <a:ext cx="26974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960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7220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1993392"/>
            <a:ext cx="1965960" cy="0"/>
          </a:xfrm>
          <a:prstGeom prst="line">
            <a:avLst/>
          </a:prstGeom>
          <a:noFill/>
          <a:ln w="9525">
            <a:solidFill>
              <a:srgbClr val="D0D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range extension (15m→25m); 28.56 dB BER gain for User 1 in pure sea water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UWOC?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261872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covers &gt;70% of Earth's surface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comms: limited to few kHz; 1.5s/km delay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UWOC: 100 Mbps–Gbps over tens of metres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wavelengths (450–550 nm) minimal absorption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AUVs, ROVs, sensor networks need high-BW links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804672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04672"/>
            <a:ext cx="4023360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LIMITATIONS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261872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accurate CSI — rarely available underwater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propagation: Stage 1 failure cascades to all users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Saturates at BER ≈ 0.50 under high turbidity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decoder ill-suited for joint multi-user signals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collapses before theoretical limit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04672"/>
            <a:ext cx="54864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Salama et 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 Quant. Electron. (Springer 2023)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34640" y="896112"/>
            <a:ext cx="5852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UWOC-NOMA; 6% sum-rate gain over OMA; GOPA 1.2–8.7% improvement.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764792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64792"/>
            <a:ext cx="54864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37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Panda &amp; Singh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AEU-Int. J. Electron. (Elsevier 2023)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1856232"/>
            <a:ext cx="5852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ConvNet-LSTM for RF NOMA; ~15% BER gain (U2); no optical channel.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724912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24912"/>
            <a:ext cx="54864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 et 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145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Lightwave Tech. (IEEE 2024)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2816352"/>
            <a:ext cx="5852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UWOC-NOMA hardware; SIC degrades under turbidity; no DL receiver.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685032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685032"/>
            <a:ext cx="54864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58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Liang et 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05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 Commun. (Elsevier 2023)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3776472"/>
            <a:ext cx="5852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BER for SIC in Gamma-Gamma turbulence; BER floor proven analytically.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 &amp;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316736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Sequences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 &amp;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36776" y="1577340"/>
            <a:ext cx="128016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005840"/>
            <a:ext cx="1316736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64792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81528" y="1577340"/>
            <a:ext cx="128016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005840"/>
            <a:ext cx="1316736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9544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 Power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P1=0.8, P2=0.2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577340"/>
            <a:ext cx="128016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05840"/>
            <a:ext cx="1316736" cy="1143000"/>
          </a:xfrm>
          <a:prstGeom prst="rect">
            <a:avLst/>
          </a:prstGeom>
          <a:solidFill>
            <a:srgbClr val="1C4B82"/>
          </a:solidFill>
          <a:ln w="12700">
            <a:solidFill>
              <a:srgbClr val="1C4B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(Beer-Lambert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Turbulence)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71032" y="1577340"/>
            <a:ext cx="128016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005840"/>
            <a:ext cx="1316736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/ 1D-CNN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15784" y="1577340"/>
            <a:ext cx="128016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005840"/>
            <a:ext cx="1316736" cy="11430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005840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423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2852928"/>
            <a:ext cx="4206240" cy="393192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5292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2852928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28416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28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Split: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328416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P1=0.8, P2=0.2 (ratio 4:1)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803904"/>
            <a:ext cx="4206240" cy="393192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0390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Distances: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380390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 m (15 points, step 2 m)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852928"/>
            <a:ext cx="4206240" cy="393192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5292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Types: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2852928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Sea / Clear Ocean / Coastal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328416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328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328416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samples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803904"/>
            <a:ext cx="4206240" cy="393192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80390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Points: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380390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BER points per decoder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Optical Channel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Attenuation: h_BL = exp(−c·d)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5029200" cy="11430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(m⁻¹)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h_BL @ 15m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h_BL @ 25m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Sea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Ocean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25420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Turbulence: h_turb = exp(2X),  X ~ N(−σ²/2, σ²)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44368"/>
          <a:ext cx="8503920" cy="11430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2011680"/>
                <a:gridCol w="338328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E[h²] = exp(4σ²)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SNR_eff @ d=25m (dB)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Sea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−5.21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Ocean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−22.14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−56.73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signal: y = h_BL · h_turb · x_tx + n,   n ~ N(0, 0.02)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1D-CNN Receiver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557784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645920"/>
                <a:gridCol w="822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imageInputLayer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seq_len=8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[8×1×1]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 [3×1], 16 filters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 +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[8×1×16]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 [3×1], 32 filters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 +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[8×1×32]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 [3×1], 64 filters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 +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[8×1×64]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Avg Pooling 2D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Collapses temporal dim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neurons,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= 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neurons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80760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Hyperparameters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207008"/>
            <a:ext cx="2834640" cy="411480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682496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6824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168249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1×10⁻³ (halved / 10 ep)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2157984"/>
            <a:ext cx="2834640" cy="411480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21579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0" y="215798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2633472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26334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63347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0760" y="3108960"/>
            <a:ext cx="2834640" cy="411480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8952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80760" y="3584448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35844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8952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(regression)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80760" y="4059936"/>
            <a:ext cx="2834640" cy="411480"/>
          </a:xfrm>
          <a:prstGeom prst="rect">
            <a:avLst/>
          </a:prstGeom>
          <a:solidFill>
            <a:srgbClr val="EEF2FA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0" y="405993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589520" y="40599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Overall BER vs. Link Distance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04672"/>
            <a:ext cx="786384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6634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SIC (dashed) vs. 1D-CNN (solid) across Pure Sea, Clear Ocean &amp; Coastal Water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 BER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04672"/>
            <a:ext cx="54864" cy="11887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412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Sea Water (c = 0.056 m⁻¹)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887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BER ≈ 0 across entire 1–30 m range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BER rises past 15 m → reaches 0.39 at 29 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range extended by 67%: CNN @ 25 m vs SIC @ 15 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84832"/>
            <a:ext cx="54864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214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Ocean Water (c = 0.150 m⁻¹)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decoders degrade with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consistently tracks below SIC throughout range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advantage visible at all distances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64992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64992"/>
            <a:ext cx="54864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0156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Water (c = 0.398 m⁻¹)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decoders saturate near BER = 0.50 beyond ~7 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h_BL = 0.000046 at 25 m — catastrophic Beer-Lambert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converges to saturation more slowly; lower BER floor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BER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3621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48056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1D-CNN (solid) vs. SIC (dashed) for User 1 (blue, far user P1=0.8) and User 2 (orange, near user P2=0.2)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1: CNN dramatically outperforms SIC.  User 2: SIC briefly outperforms CNN at very short distances; CNN takes over beyond ~7 m.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BER — Error Floor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3419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3434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V-shape for CNN User 2 in pure sea water: BER drops to ~10⁻³ at 7–12 m due to temporal diversity, then rises as attenuation dominates.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User 2 BER never drops below ~10⁻².  CNN User 2 BER reaches 10⁻³–10⁻⁴ in optimal distance regime — demonstrates error-propagation immunity.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BER Gain Heatmaps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04672"/>
            <a:ext cx="4206240" cy="20848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926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User 1 CNN Advantage (dB). Warm = large CNN gain. Gains &gt;60 dB at 1–15 m in pure sea water.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04672"/>
            <a:ext cx="4023360" cy="20848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User 2 CNN Advantage (dB). White/cool = SIC outperforms CNN at short distances. Peak gain: 29.73 dB at 13–17 m.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3429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advantage primarily from eliminating Stage 1 decoding errors — which in SIC cascade to User 2 (error propagation).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3913632"/>
            <a:ext cx="2697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3913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 Max Gain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004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 dB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4206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sea 1–15 m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00400" y="3913632"/>
            <a:ext cx="2697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0" y="3913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 Peak Gain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0040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29.73 dB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663440" y="4206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sea 13–17 m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80760" y="3913632"/>
            <a:ext cx="2697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80760" y="3913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U1 Gain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08076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4.64 dB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543800" y="4206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saturate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BER Gain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45720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804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 — Mean CNN BER Gain (dB)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70432"/>
          <a:ext cx="347472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Sea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Ocean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303520" y="2578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03520" y="2944368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advantage decreases monotonically as turbidity increases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User 1 advantage confirms CNN eliminates Stage 1 errors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coastal water CNN is marginally better (4.64 dB U1)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does not require channel state information at any stage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0040" y="41330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Bar chart of mean BER gain (dB) averaged across 1–30 m for both users and all three water types.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Detection &amp; Signal Scatter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04672"/>
            <a:ext cx="4389120" cy="2670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520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Actual (blue) vs CNN-decoded (red dashed) bit streams at d=10 m, pure sea water.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1: 100% accuracy. User 2: 93.3% accuracy (joint simultaneous decoding).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04672"/>
            <a:ext cx="4023360" cy="2395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3246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NOMA received signal scatter: 4 BPSK-NOMA symbol classes at d=10 m.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turbidity overlaps clusters — explaining SIC saturation under coastal water.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38404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CNN's learned soft probabilistic boundary handles cluster overlap where SIC's hard threshold fails.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with Published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950208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2011680"/>
                <a:gridCol w="2926080"/>
              </a:tblGrid>
              <a:tr h="7900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Salama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[Springer 2023]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+ NOMA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UWOC relay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 sum rate gain over OMA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CNN: 28.56 dB avg BER 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SIC; directly comparable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 &amp; Singh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[Elsevier 2023]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ConvNet-LSTM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NOMA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 BER gain U2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~8.6% BER gain U1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CNN: 8.33 dB U2, 28.56 dB U1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far harsher optical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(Beer-Lambert + turbulence)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[IEEE 2024]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UWOC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 degrades 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turbidity; no DL receiver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maintains stable BER where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 saturates; 67% range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demonstrated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Liang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[Elsevier 2023]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Gamma-Gamma turbulence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 floor proven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analytically for 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eliminates error propagation,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analytically-predicted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 BER 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outperforms SIC across all water types and distances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range extension: ~15 m (SIC) → ~25 m (CNN) in adverse conditions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BER gains: 28.56 dB / 12.63 dB / 4.64 dB for User 1 (pure sea / clear ocean / coastal)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User 1 accuracy, 93.3% User 2 accuracy at d=10 m (joint simultaneous decoding)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Error-propagation immunity: CNN User 2 BER reaches 10⁻³–10⁻⁴; SIC floor ≈ 10⁻²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0" y="731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078992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3+ NOMA users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or attention mechanisms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error &amp; beam divergence models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real-time CNN inference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power allocation + CNN joint optimisation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turbulence &amp; water tank testbed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1E2B4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 — hardware validation in water tank required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only; CNN not tested for 3+ user scenarios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noise variance (σ² = 0.02); time-varying noise not evaluated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marginally suboptimal for near user (U2) at very short distances in clean water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UWOC NOMA | NIT Hamirpur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W. M. Salama, M. H. Aly, E. S. Amer, "Underwater optical wireless communication system: Deep learning CNN with NOMA-based performance analysis," Optical and Quantum Electronics, vol. 55, no. 436, Springer Nature, Mar. 2023.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20040" y="1335024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502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B. Panda and P. Singh, "A deep convolutional-LSTM neural network for signal detection of downlink NOMA system," AEU-Int. J. Electronics and Communications, vol. 170, Elsevier, 2023.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470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X. Li et al., "NOMA Assisted Real-Time Downlink UWOC System Using a Software-Configurable Driver Under Different Channel Conditions," IEEE/Optica J. Lightwave Technology, vol. 42, no. 14, pp. 4860–4873, IEEE, July 2024.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915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Liang et al., "BER analysis for PAM-based UWOC-NOMA system in oceanic turbulence environment," Optics Communications, vol. 545, Article 129631, Elsevier, Oct. 2023.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Z. Zeng et al., "A Survey of Underwater Optical Wireless Communications," IEEE Communications Surveys &amp; Tutorials, vol. 18, no. 3, pp. 1855–1888, 2016.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H. Kaushal, G. Kaddoum, "Underwater Optical Wireless Communication," IEEE Access, vol. 4, pp. 1518–1547, 2016.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J. Petzold, "Volume scattering functions for selected ocean waters," Scripps Institution of Oceanography, SIO Ref. 72-78, 1972.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20040" y="4407408"/>
            <a:ext cx="457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0740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T. O'Shea, J. Hoydis, "An Introduction to Deep Learning for the Physical Layer," IEEE Trans. Cognitive Commun. and Networking, vol. 3, no. 4, 2017.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Multi-User Detection for UWOC NOMA</dc:title>
  <dc:subject>PptxGenJS Presentation</dc:subject>
  <dc:creator>PptxGenJS</dc:creator>
  <cp:lastModifiedBy>PptxGenJS</cp:lastModifiedBy>
  <cp:revision>1</cp:revision>
  <dcterms:created xsi:type="dcterms:W3CDTF">2026-04-13T07:02:57Z</dcterms:created>
  <dcterms:modified xsi:type="dcterms:W3CDTF">2026-04-13T07:02:57Z</dcterms:modified>
</cp:coreProperties>
</file>